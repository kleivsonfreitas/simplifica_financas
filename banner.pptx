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25184100" cy="36004500"/>
  <p:notesSz cx="6858000" cy="9144000"/>
  <p:embeddedFontLst>
    <p:embeddedFont>
      <p:font typeface="Agency FB" panose="020B0503020202020204" pitchFamily="34" charset="0"/>
      <p:regular r:id="rId3"/>
      <p:bold r:id="rId4"/>
    </p:embeddedFont>
    <p:embeddedFont>
      <p:font typeface="Aptos Black" panose="020B0604020202020204" charset="0"/>
      <p:bold r:id="rId5"/>
      <p:boldItalic r:id="rId6"/>
    </p:embeddedFont>
    <p:embeddedFont>
      <p:font typeface="Arial Bold" panose="020B0604020202020204" charset="0"/>
      <p:regular r:id="rId7"/>
      <p:bold r:id="rId8"/>
    </p:embeddedFon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TT Rounds Condensed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548B"/>
    <a:srgbClr val="F29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39" d="100"/>
          <a:sy n="39" d="100"/>
        </p:scale>
        <p:origin x="336" y="-7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font" Target="fonts/font11.fntdata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font" Target="fonts/font10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font" Target="fonts/font9.fntdata"/><Relationship Id="rId5" Type="http://schemas.openxmlformats.org/officeDocument/2006/relationships/font" Target="fonts/font3.fntdata"/><Relationship Id="rId15" Type="http://schemas.openxmlformats.org/officeDocument/2006/relationships/viewProps" Target="viewProps.xml"/><Relationship Id="rId10" Type="http://schemas.openxmlformats.org/officeDocument/2006/relationships/font" Target="fonts/font8.fntdata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hyperlink" Target="https://www.iso.org/standard/35733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6200" y="33730149"/>
            <a:ext cx="25354817" cy="1826066"/>
          </a:xfrm>
          <a:custGeom>
            <a:avLst/>
            <a:gdLst/>
            <a:ahLst/>
            <a:cxnLst/>
            <a:rect l="l" t="t" r="r" b="b"/>
            <a:pathLst>
              <a:path w="25354817" h="1826066">
                <a:moveTo>
                  <a:pt x="0" y="0"/>
                </a:moveTo>
                <a:lnTo>
                  <a:pt x="25354817" y="0"/>
                </a:lnTo>
                <a:lnTo>
                  <a:pt x="25354817" y="1826066"/>
                </a:lnTo>
                <a:lnTo>
                  <a:pt x="0" y="1826066"/>
                </a:lnTo>
                <a:lnTo>
                  <a:pt x="0" y="0"/>
                </a:lnTo>
                <a:close/>
              </a:path>
            </a:pathLst>
          </a:custGeom>
          <a:solidFill>
            <a:srgbClr val="F29100"/>
          </a:solidFill>
          <a:ln>
            <a:solidFill>
              <a:srgbClr val="F29100"/>
            </a:solidFill>
          </a:ln>
        </p:spPr>
        <p:txBody>
          <a:bodyPr/>
          <a:lstStyle/>
          <a:p>
            <a:endParaRPr lang="pt-BR" dirty="0"/>
          </a:p>
        </p:txBody>
      </p:sp>
      <p:sp>
        <p:nvSpPr>
          <p:cNvPr id="5" name="Freeform 5" descr="C:\Users\David\Desktop\UFPB\ccnec ufpb\papers.co-vc96-triangle-of-blue-patterns-15-wallpaper.jpg"/>
          <p:cNvSpPr/>
          <p:nvPr/>
        </p:nvSpPr>
        <p:spPr>
          <a:xfrm>
            <a:off x="868549" y="24350125"/>
            <a:ext cx="5010641" cy="6342814"/>
          </a:xfrm>
          <a:custGeom>
            <a:avLst/>
            <a:gdLst/>
            <a:ahLst/>
            <a:cxnLst/>
            <a:rect l="l" t="t" r="r" b="b"/>
            <a:pathLst>
              <a:path w="4667250" h="4152900">
                <a:moveTo>
                  <a:pt x="0" y="0"/>
                </a:moveTo>
                <a:lnTo>
                  <a:pt x="4667250" y="0"/>
                </a:lnTo>
                <a:lnTo>
                  <a:pt x="4667250" y="4152900"/>
                </a:lnTo>
                <a:lnTo>
                  <a:pt x="0" y="41529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6" name="Freeform 6" descr="C:\Users\David\Desktop\UFPB\ccnec ufpb\papers.co-vc96-triangle-of-blue-patterns-15-wallpaper.jpg"/>
          <p:cNvSpPr/>
          <p:nvPr/>
        </p:nvSpPr>
        <p:spPr>
          <a:xfrm>
            <a:off x="12363450" y="18459450"/>
            <a:ext cx="5460885" cy="6575753"/>
          </a:xfrm>
          <a:custGeom>
            <a:avLst/>
            <a:gdLst/>
            <a:ahLst/>
            <a:cxnLst/>
            <a:rect l="l" t="t" r="r" b="b"/>
            <a:pathLst>
              <a:path w="4524375" h="4019550">
                <a:moveTo>
                  <a:pt x="0" y="0"/>
                </a:moveTo>
                <a:lnTo>
                  <a:pt x="4524375" y="0"/>
                </a:lnTo>
                <a:lnTo>
                  <a:pt x="4524375" y="4019550"/>
                </a:lnTo>
                <a:lnTo>
                  <a:pt x="0" y="401955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Freeform 7" descr="C:\Users\David\Desktop\UFPB\ccnec ufpb\papers.co-vc96-triangle-of-blue-patterns-15-wallpaper.jpg"/>
          <p:cNvSpPr/>
          <p:nvPr/>
        </p:nvSpPr>
        <p:spPr>
          <a:xfrm>
            <a:off x="18527358" y="18329437"/>
            <a:ext cx="5509466" cy="6575753"/>
          </a:xfrm>
          <a:custGeom>
            <a:avLst/>
            <a:gdLst/>
            <a:ahLst/>
            <a:cxnLst/>
            <a:rect l="l" t="t" r="r" b="b"/>
            <a:pathLst>
              <a:path w="4524375" h="4019550">
                <a:moveTo>
                  <a:pt x="0" y="0"/>
                </a:moveTo>
                <a:lnTo>
                  <a:pt x="4524375" y="0"/>
                </a:lnTo>
                <a:lnTo>
                  <a:pt x="4524375" y="4019550"/>
                </a:lnTo>
                <a:lnTo>
                  <a:pt x="0" y="401955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8" name="Freeform 8" descr="C:\Users\David\Desktop\UFPB\ccnec ufpb\papers.co-vc96-triangle-of-blue-patterns-15-wallpaper.jpg"/>
          <p:cNvSpPr/>
          <p:nvPr/>
        </p:nvSpPr>
        <p:spPr>
          <a:xfrm>
            <a:off x="6479347" y="24350125"/>
            <a:ext cx="5222653" cy="6400193"/>
          </a:xfrm>
          <a:custGeom>
            <a:avLst/>
            <a:gdLst/>
            <a:ahLst/>
            <a:cxnLst/>
            <a:rect l="l" t="t" r="r" b="b"/>
            <a:pathLst>
              <a:path w="4524375" h="4019550">
                <a:moveTo>
                  <a:pt x="0" y="0"/>
                </a:moveTo>
                <a:lnTo>
                  <a:pt x="4524375" y="0"/>
                </a:lnTo>
                <a:lnTo>
                  <a:pt x="4524375" y="4019550"/>
                </a:lnTo>
                <a:lnTo>
                  <a:pt x="0" y="401955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4" name="Freeform 14"/>
          <p:cNvSpPr/>
          <p:nvPr/>
        </p:nvSpPr>
        <p:spPr>
          <a:xfrm>
            <a:off x="1106338" y="448286"/>
            <a:ext cx="4950580" cy="3257692"/>
          </a:xfrm>
          <a:custGeom>
            <a:avLst/>
            <a:gdLst/>
            <a:ahLst/>
            <a:cxnLst/>
            <a:rect l="l" t="t" r="r" b="b"/>
            <a:pathLst>
              <a:path w="4010025" h="2847975">
                <a:moveTo>
                  <a:pt x="0" y="0"/>
                </a:moveTo>
                <a:lnTo>
                  <a:pt x="4010025" y="0"/>
                </a:lnTo>
                <a:lnTo>
                  <a:pt x="4010025" y="2847975"/>
                </a:lnTo>
                <a:lnTo>
                  <a:pt x="0" y="28479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841" b="-1837"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15" name="Freeform 15"/>
          <p:cNvSpPr/>
          <p:nvPr/>
        </p:nvSpPr>
        <p:spPr>
          <a:xfrm>
            <a:off x="8153152" y="838200"/>
            <a:ext cx="9924555" cy="2063317"/>
          </a:xfrm>
          <a:custGeom>
            <a:avLst/>
            <a:gdLst/>
            <a:ahLst/>
            <a:cxnLst/>
            <a:rect l="l" t="t" r="r" b="b"/>
            <a:pathLst>
              <a:path w="7896225" h="1619250">
                <a:moveTo>
                  <a:pt x="0" y="0"/>
                </a:moveTo>
                <a:lnTo>
                  <a:pt x="7896225" y="0"/>
                </a:lnTo>
                <a:lnTo>
                  <a:pt x="7896225" y="1619250"/>
                </a:lnTo>
                <a:lnTo>
                  <a:pt x="0" y="16192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1" name="Freeform 21" descr="Uma imagem contendo Texto  Descrição gerada automaticamente"/>
          <p:cNvSpPr/>
          <p:nvPr/>
        </p:nvSpPr>
        <p:spPr>
          <a:xfrm>
            <a:off x="20491783" y="838952"/>
            <a:ext cx="2922813" cy="2190750"/>
          </a:xfrm>
          <a:custGeom>
            <a:avLst/>
            <a:gdLst/>
            <a:ahLst/>
            <a:cxnLst/>
            <a:rect l="l" t="t" r="r" b="b"/>
            <a:pathLst>
              <a:path w="2922813" h="2190750">
                <a:moveTo>
                  <a:pt x="0" y="0"/>
                </a:moveTo>
                <a:lnTo>
                  <a:pt x="2922813" y="0"/>
                </a:lnTo>
                <a:lnTo>
                  <a:pt x="2922813" y="2190750"/>
                </a:lnTo>
                <a:lnTo>
                  <a:pt x="0" y="21907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46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6" name="TextBox 26"/>
          <p:cNvSpPr txBox="1"/>
          <p:nvPr/>
        </p:nvSpPr>
        <p:spPr>
          <a:xfrm>
            <a:off x="768989" y="19221450"/>
            <a:ext cx="11219631" cy="4385816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823"/>
              </a:lnSpc>
            </a:pPr>
            <a:r>
              <a:rPr lang="pt-BR" sz="3199" b="1" dirty="0">
                <a:solidFill>
                  <a:srgbClr val="000000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METODOLOGIA</a:t>
            </a:r>
          </a:p>
          <a:p>
            <a:pPr algn="just">
              <a:lnSpc>
                <a:spcPts val="3823"/>
              </a:lnSpc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O trabalho integrou teoria e prática da UC, com revisão bibliográfica sobre qualidade, processos de software, CMMI e ISO. Na prática, aplicou-se esse conhecimento no desenvolvimento de um sistema de gestão financeira, envolvendo planejamento, requisitos, implementação, testes e documentação. O processo seguiu etapas sistemáticas, incorporando métricas e melhoria contínua, garantindo confiabilidade e alinhamento às necessidades dos usuários.</a:t>
            </a:r>
            <a:endParaRPr lang="pt-BR" sz="3199" dirty="0">
              <a:solidFill>
                <a:srgbClr val="00000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75263" y="10602797"/>
            <a:ext cx="11213357" cy="5360442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823"/>
              </a:lnSpc>
            </a:pPr>
            <a:r>
              <a:rPr lang="en-US" sz="3199" b="1" dirty="0">
                <a:solidFill>
                  <a:srgbClr val="000000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INTRODUÇÃO</a:t>
            </a:r>
          </a:p>
          <a:p>
            <a:pPr algn="just">
              <a:lnSpc>
                <a:spcPts val="3823"/>
              </a:lnSpc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Gestão e Qualidade de Software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é essencial para garantir que sistemas sejam desenvolvidos de maneira eficiente, confiável e alinhada às necessidades dos usuários. A qualidade não é um atributo isolado, mas resulta de práticas sistemáticas aplicadas ao longo de todo o ciclo de vida do software (</a:t>
            </a:r>
            <a:r>
              <a:rPr lang="pt-BR" sz="3200" dirty="0" err="1">
                <a:latin typeface="Arial" panose="020B0604020202020204" pitchFamily="34" charset="0"/>
                <a:cs typeface="Arial" panose="020B0604020202020204" pitchFamily="34" charset="0"/>
              </a:rPr>
              <a:t>Sommerville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2019; Pressman &amp; Maxim, 2020).</a:t>
            </a:r>
            <a:b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Atualmente, a qualidade de software inclui não apenas funcionamento correto, mas também 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usabilidade, segurança, desempenho, portabilidade e experiência do usuário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(ISO).</a:t>
            </a:r>
            <a:endParaRPr lang="en-US" sz="3199" b="1" dirty="0">
              <a:solidFill>
                <a:srgbClr val="000000"/>
              </a:solidFill>
              <a:latin typeface="Arial" panose="020B0604020202020204" pitchFamily="34" charset="0"/>
              <a:ea typeface="Arial Bold"/>
              <a:cs typeface="Arial" panose="020B0604020202020204" pitchFamily="34" charset="0"/>
              <a:sym typeface="Arial 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197035" y="13996426"/>
            <a:ext cx="115224" cy="867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01"/>
              </a:lnSpc>
            </a:pPr>
            <a:r>
              <a:rPr lang="en-US" sz="3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99756" y="16114523"/>
            <a:ext cx="11219631" cy="2954527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pt-BR" sz="3199" b="1" dirty="0">
                <a:solidFill>
                  <a:srgbClr val="000000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OBJETIVO</a:t>
            </a:r>
          </a:p>
          <a:p>
            <a:pPr algn="just"/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Desenvolver um sistema de gestão financeira aplicando os princípios de Gestão e Qualidade de Software, de modo a garantir confiabilidade, eficiência, usabilidade e alinhamento às necessidades do usuário, por meio de práticas formais de engenharia de software, testes, métricas e melhoria contínua.</a:t>
            </a:r>
            <a:endParaRPr lang="pt-BR" sz="3199" dirty="0">
              <a:solidFill>
                <a:srgbClr val="00000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3022790" y="10462630"/>
            <a:ext cx="11192589" cy="6889065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823"/>
              </a:lnSpc>
            </a:pPr>
            <a:r>
              <a:rPr lang="en-US" sz="3150" b="1" dirty="0">
                <a:solidFill>
                  <a:srgbClr val="000000"/>
                </a:solidFill>
                <a:latin typeface="Arial"/>
                <a:ea typeface="Arial Bold"/>
                <a:cs typeface="Arial"/>
                <a:sym typeface="Arial Bold"/>
              </a:rPr>
              <a:t>RESULTADOS E DISCUSSÃO</a:t>
            </a:r>
            <a:endParaRPr lang="en-US" sz="3199" b="1" dirty="0">
              <a:solidFill>
                <a:srgbClr val="000000"/>
              </a:solidFill>
              <a:latin typeface="Arial" panose="020B0604020202020204" pitchFamily="34" charset="0"/>
              <a:ea typeface="Arial Bold"/>
              <a:cs typeface="Arial" panose="020B0604020202020204" pitchFamily="34" charset="0"/>
              <a:sym typeface="Arial Bold"/>
            </a:endParaRPr>
          </a:p>
          <a:p>
            <a:pPr algn="just"/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O desenvolvimento do sistema de gestão financeira permitiu aplicar os conceitos de Gestão e Qualidade de Software na prática, evidenciando a importância de processos estruturados e métricas para garantir confiabilidade e eficiência. Foram implementadas funcionalidades que asseguram a correta manipulação de dados, usabilidade e experiência do usuário. A análise dos resultados mostrou que a aplicação de testes, documentação e versionamento contribuiu para a redução de erros e aumento da qualidade do produto. Além disso, a prática demonstrou como modelos de maturidade e normas de qualidade orientam decisões durante o ciclo de vida do software, promovendo melhoria contínua e alinhamento às necessidades dos usuários.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616823" y="25727709"/>
            <a:ext cx="11192589" cy="3898503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823"/>
              </a:lnSpc>
            </a:pPr>
            <a:r>
              <a:rPr lang="pt-BR" sz="3199" b="1" dirty="0">
                <a:solidFill>
                  <a:srgbClr val="000000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CONSIDERAÇÕES FINAIS</a:t>
            </a:r>
          </a:p>
          <a:p>
            <a:pPr algn="just">
              <a:lnSpc>
                <a:spcPts val="3823"/>
              </a:lnSpc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A Gestão e Qualidade de Software é essencial para formar profissionais de TI, garantindo processos confiáveis.</a:t>
            </a:r>
            <a:b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O desenvolvimento do sistema da Avaliação A3 permitiu aplicar teoria, testes e melhoria contínua.</a:t>
            </a:r>
            <a:b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A UC desenvolveu habilidades analíticas e críticas, mostrando como normas e padrões de qualidade orientam o desenvolvimento de produtos.</a:t>
            </a:r>
            <a:endParaRPr lang="pt-BR" sz="3199" spc="57" dirty="0">
              <a:solidFill>
                <a:srgbClr val="00000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12615549" y="29728929"/>
            <a:ext cx="11192589" cy="3898503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823"/>
              </a:lnSpc>
            </a:pPr>
            <a:r>
              <a:rPr lang="en-US" sz="319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REFERÊNCIAS</a:t>
            </a:r>
          </a:p>
          <a:p>
            <a:pPr algn="just">
              <a:lnSpc>
                <a:spcPts val="3823"/>
              </a:lnSpc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ISO/IEC 25010. </a:t>
            </a:r>
            <a:r>
              <a:rPr lang="pt-BR" sz="3200" i="1" dirty="0">
                <a:latin typeface="Arial" panose="020B0604020202020204" pitchFamily="34" charset="0"/>
                <a:cs typeface="Arial" panose="020B0604020202020204" pitchFamily="34" charset="0"/>
              </a:rPr>
              <a:t>Systems </a:t>
            </a:r>
            <a:r>
              <a:rPr lang="pt-BR" sz="3200" i="1" dirty="0" err="1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pt-BR" sz="3200" i="1" dirty="0">
                <a:latin typeface="Arial" panose="020B0604020202020204" pitchFamily="34" charset="0"/>
                <a:cs typeface="Arial" panose="020B0604020202020204" pitchFamily="34" charset="0"/>
              </a:rPr>
              <a:t> software </a:t>
            </a:r>
            <a:r>
              <a:rPr lang="pt-BR" sz="3200" i="1" dirty="0" err="1">
                <a:latin typeface="Arial" panose="020B0604020202020204" pitchFamily="34" charset="0"/>
                <a:cs typeface="Arial" panose="020B0604020202020204" pitchFamily="34" charset="0"/>
              </a:rPr>
              <a:t>engineering</a:t>
            </a:r>
            <a:r>
              <a:rPr lang="pt-BR" sz="3200" i="1" dirty="0">
                <a:latin typeface="Arial" panose="020B0604020202020204" pitchFamily="34" charset="0"/>
                <a:cs typeface="Arial" panose="020B0604020202020204" pitchFamily="34" charset="0"/>
              </a:rPr>
              <a:t> — Systems </a:t>
            </a:r>
            <a:r>
              <a:rPr lang="pt-BR" sz="3200" i="1" dirty="0" err="1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pt-BR" sz="3200" i="1" dirty="0">
                <a:latin typeface="Arial" panose="020B0604020202020204" pitchFamily="34" charset="0"/>
                <a:cs typeface="Arial" panose="020B0604020202020204" pitchFamily="34" charset="0"/>
              </a:rPr>
              <a:t> software </a:t>
            </a:r>
            <a:r>
              <a:rPr lang="pt-BR" sz="3200" i="1" dirty="0" err="1">
                <a:latin typeface="Arial" panose="020B0604020202020204" pitchFamily="34" charset="0"/>
                <a:cs typeface="Arial" panose="020B0604020202020204" pitchFamily="34" charset="0"/>
              </a:rPr>
              <a:t>Quality</a:t>
            </a:r>
            <a:r>
              <a:rPr lang="pt-BR" sz="32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i="1" dirty="0" err="1">
                <a:latin typeface="Arial" panose="020B0604020202020204" pitchFamily="34" charset="0"/>
                <a:cs typeface="Arial" panose="020B0604020202020204" pitchFamily="34" charset="0"/>
              </a:rPr>
              <a:t>Requirements</a:t>
            </a:r>
            <a:r>
              <a:rPr lang="pt-BR" sz="32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i="1" dirty="0" err="1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pt-BR" sz="32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i="1" dirty="0" err="1">
                <a:latin typeface="Arial" panose="020B0604020202020204" pitchFamily="34" charset="0"/>
                <a:cs typeface="Arial" panose="020B0604020202020204" pitchFamily="34" charset="0"/>
              </a:rPr>
              <a:t>Evaluation</a:t>
            </a:r>
            <a:r>
              <a:rPr lang="pt-BR" sz="3200" i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pt-BR" sz="3200" i="1" dirty="0" err="1">
                <a:latin typeface="Arial" panose="020B0604020202020204" pitchFamily="34" charset="0"/>
                <a:cs typeface="Arial" panose="020B0604020202020204" pitchFamily="34" charset="0"/>
              </a:rPr>
              <a:t>SQuaRE</a:t>
            </a:r>
            <a:r>
              <a:rPr lang="pt-BR" sz="3200" i="1" dirty="0">
                <a:latin typeface="Arial" panose="020B0604020202020204" pitchFamily="34" charset="0"/>
                <a:cs typeface="Arial" panose="020B0604020202020204" pitchFamily="34" charset="0"/>
              </a:rPr>
              <a:t>) — System </a:t>
            </a:r>
            <a:r>
              <a:rPr lang="pt-BR" sz="3200" i="1" dirty="0" err="1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pt-BR" sz="3200" i="1" dirty="0">
                <a:latin typeface="Arial" panose="020B0604020202020204" pitchFamily="34" charset="0"/>
                <a:cs typeface="Arial" panose="020B0604020202020204" pitchFamily="34" charset="0"/>
              </a:rPr>
              <a:t> software </a:t>
            </a:r>
            <a:r>
              <a:rPr lang="pt-BR" sz="3200" i="1" dirty="0" err="1">
                <a:latin typeface="Arial" panose="020B0604020202020204" pitchFamily="34" charset="0"/>
                <a:cs typeface="Arial" panose="020B0604020202020204" pitchFamily="34" charset="0"/>
              </a:rPr>
              <a:t>quality</a:t>
            </a:r>
            <a:r>
              <a:rPr lang="pt-BR" sz="3200" i="1" dirty="0">
                <a:latin typeface="Arial" panose="020B0604020202020204" pitchFamily="34" charset="0"/>
                <a:cs typeface="Arial" panose="020B0604020202020204" pitchFamily="34" charset="0"/>
              </a:rPr>
              <a:t> models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 Geneva: </a:t>
            </a:r>
            <a:r>
              <a:rPr lang="pt-BR" sz="3200" dirty="0" err="1">
                <a:latin typeface="Arial" panose="020B0604020202020204" pitchFamily="34" charset="0"/>
                <a:cs typeface="Arial" panose="020B0604020202020204" pitchFamily="34" charset="0"/>
              </a:rPr>
              <a:t>International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dirty="0" err="1">
                <a:latin typeface="Arial" panose="020B0604020202020204" pitchFamily="34" charset="0"/>
                <a:cs typeface="Arial" panose="020B0604020202020204" pitchFamily="34" charset="0"/>
              </a:rPr>
              <a:t>Organization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for </a:t>
            </a:r>
            <a:r>
              <a:rPr lang="pt-BR" sz="3200" dirty="0" err="1">
                <a:latin typeface="Arial" panose="020B0604020202020204" pitchFamily="34" charset="0"/>
                <a:cs typeface="Arial" panose="020B0604020202020204" pitchFamily="34" charset="0"/>
              </a:rPr>
              <a:t>Standardization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2011. Disponível em: 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  <a:hlinkClick r:id="rId9"/>
              </a:rPr>
              <a:t>https://www.iso.org/standard/35733.html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BR" sz="3200" dirty="0">
              <a:solidFill>
                <a:srgbClr val="00000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  <a:p>
            <a:pPr algn="just">
              <a:lnSpc>
                <a:spcPts val="3823"/>
              </a:lnSpc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Sommerville, I. </a:t>
            </a:r>
            <a:r>
              <a:rPr lang="en-US" sz="3200" i="1" dirty="0">
                <a:latin typeface="Arial" panose="020B0604020202020204" pitchFamily="34" charset="0"/>
                <a:cs typeface="Arial" panose="020B0604020202020204" pitchFamily="34" charset="0"/>
              </a:rPr>
              <a:t>Software Engineering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. 10. ed. Boston: Pearson, 2019.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095087" y="34217508"/>
            <a:ext cx="7848600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8000" b="1" spc="44" dirty="0">
                <a:solidFill>
                  <a:srgbClr val="0A548B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 I </a:t>
            </a:r>
            <a:r>
              <a:rPr lang="en-US" sz="8000" b="1" spc="44">
                <a:solidFill>
                  <a:srgbClr val="0A548B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 A  F </a:t>
            </a:r>
            <a:r>
              <a:rPr lang="en-US" sz="8000" b="1" spc="44" dirty="0">
                <a:solidFill>
                  <a:srgbClr val="0A548B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P B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06031" y="4049231"/>
            <a:ext cx="23501988" cy="5937972"/>
          </a:xfrm>
          <a:prstGeom prst="rect">
            <a:avLst/>
          </a:prstGeom>
          <a:ln w="57150">
            <a:solidFill>
              <a:srgbClr val="FFC000"/>
            </a:solidFill>
          </a:ln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pt-BR" sz="399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Aplicativo – Gestão Financeira</a:t>
            </a:r>
            <a:endParaRPr lang="pt-BR" sz="3999" b="1" noProof="0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l">
              <a:lnSpc>
                <a:spcPts val="4050"/>
              </a:lnSpc>
            </a:pPr>
            <a:r>
              <a:rPr lang="pt-BR" sz="3200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</a:p>
          <a:p>
            <a:pPr>
              <a:lnSpc>
                <a:spcPts val="4050"/>
              </a:lnSpc>
            </a:pPr>
            <a:r>
              <a:rPr lang="pt-BR" sz="3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Carlos Henrique Cavalcante Moreira		</a:t>
            </a:r>
            <a:r>
              <a:rPr lang="pt-BR" sz="3200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 1362416272</a:t>
            </a:r>
          </a:p>
          <a:p>
            <a:pPr>
              <a:lnSpc>
                <a:spcPts val="4050"/>
              </a:lnSpc>
            </a:pPr>
            <a:r>
              <a:rPr lang="pt-BR" sz="3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Daniel </a:t>
            </a:r>
            <a:r>
              <a:rPr lang="pt-BR" sz="32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Obede</a:t>
            </a:r>
            <a:r>
              <a:rPr lang="pt-BR" sz="3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 Silva					</a:t>
            </a:r>
            <a:r>
              <a:rPr lang="pt-BR" sz="3200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 1362112473</a:t>
            </a:r>
            <a:br>
              <a:rPr lang="pt-BR" sz="3200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3200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3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Gabriel Jonathas Santos de Oliveira		</a:t>
            </a:r>
            <a:r>
              <a:rPr lang="pt-BR" sz="3200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 1362317022</a:t>
            </a:r>
          </a:p>
          <a:p>
            <a:pPr>
              <a:lnSpc>
                <a:spcPts val="4050"/>
              </a:lnSpc>
            </a:pPr>
            <a:r>
              <a:rPr lang="pt-BR" sz="3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32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Janary</a:t>
            </a:r>
            <a:r>
              <a:rPr lang="pt-BR" sz="3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Victor do Nascimento Júnior		</a:t>
            </a:r>
            <a:r>
              <a:rPr lang="pt-BR" sz="3200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 1362416604	</a:t>
            </a:r>
            <a:endParaRPr lang="pt-BR" sz="3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050"/>
              </a:lnSpc>
            </a:pPr>
            <a:r>
              <a:rPr lang="pt-BR" sz="3200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José Kleivson da Silva Freitas			RA 1362411072</a:t>
            </a:r>
          </a:p>
          <a:p>
            <a:pPr>
              <a:lnSpc>
                <a:spcPts val="4050"/>
              </a:lnSpc>
            </a:pPr>
            <a:endParaRPr lang="pt-BR" sz="3200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050"/>
              </a:lnSpc>
            </a:pPr>
            <a:r>
              <a:rPr lang="pt-BR" sz="3200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Orientadores: Antunes e Artur</a:t>
            </a:r>
          </a:p>
          <a:p>
            <a:pPr algn="l">
              <a:lnSpc>
                <a:spcPts val="4050"/>
              </a:lnSpc>
            </a:pPr>
            <a:r>
              <a:rPr lang="pt-BR" sz="3200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Unidade Curricular: Gestão e Qualidade de Software</a:t>
            </a:r>
          </a:p>
          <a:p>
            <a:pPr algn="l">
              <a:lnSpc>
                <a:spcPts val="4050"/>
              </a:lnSpc>
            </a:pPr>
            <a:r>
              <a:rPr lang="pt-BR" sz="3200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Curso(s): Ciência da Computação</a:t>
            </a:r>
          </a:p>
        </p:txBody>
      </p:sp>
      <p:sp>
        <p:nvSpPr>
          <p:cNvPr id="3" name="TextBox 43">
            <a:extLst>
              <a:ext uri="{FF2B5EF4-FFF2-40B4-BE49-F238E27FC236}">
                <a16:creationId xmlns:a16="http://schemas.microsoft.com/office/drawing/2014/main" id="{9173D661-56F1-1BF1-3EBA-4996F592BDB2}"/>
              </a:ext>
            </a:extLst>
          </p:cNvPr>
          <p:cNvSpPr txBox="1"/>
          <p:nvPr/>
        </p:nvSpPr>
        <p:spPr>
          <a:xfrm>
            <a:off x="268392" y="139461"/>
            <a:ext cx="24591857" cy="35640000"/>
          </a:xfrm>
          <a:prstGeom prst="rect">
            <a:avLst/>
          </a:prstGeom>
          <a:ln w="127000">
            <a:solidFill>
              <a:srgbClr val="F29100"/>
            </a:solidFill>
          </a:ln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endParaRPr lang="pt-BR" sz="3200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30">
            <a:extLst>
              <a:ext uri="{FF2B5EF4-FFF2-40B4-BE49-F238E27FC236}">
                <a16:creationId xmlns:a16="http://schemas.microsoft.com/office/drawing/2014/main" id="{5F4B2280-630B-F7A2-B187-BE104317FD77}"/>
              </a:ext>
            </a:extLst>
          </p:cNvPr>
          <p:cNvSpPr txBox="1"/>
          <p:nvPr/>
        </p:nvSpPr>
        <p:spPr>
          <a:xfrm>
            <a:off x="1864044" y="733524"/>
            <a:ext cx="2390452" cy="1107996"/>
          </a:xfrm>
          <a:prstGeom prst="rect">
            <a:avLst/>
          </a:prstGeom>
          <a:ln w="3175">
            <a:noFill/>
            <a:prstDash val="sysDash"/>
          </a:ln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pt-BR" sz="4000" b="1" dirty="0">
                <a:solidFill>
                  <a:srgbClr val="F291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Black"/>
                <a:ea typeface="Arial Bold"/>
                <a:cs typeface="Arial"/>
                <a:sym typeface="Arial Bold"/>
              </a:rPr>
              <a:t>8ª edição</a:t>
            </a:r>
          </a:p>
          <a:p>
            <a:pPr algn="just"/>
            <a:r>
              <a:rPr lang="pt-BR" sz="3200">
                <a:solidFill>
                  <a:srgbClr val="F29100"/>
                </a:solidFill>
                <a:latin typeface="Aptos Black"/>
                <a:ea typeface="Arial"/>
                <a:cs typeface="Arial"/>
                <a:sym typeface="Arial Bold"/>
              </a:rPr>
              <a:t>      </a:t>
            </a:r>
            <a:r>
              <a:rPr lang="pt-BR" sz="3200">
                <a:solidFill>
                  <a:srgbClr val="F29100"/>
                </a:solidFill>
                <a:latin typeface="Agency FB"/>
                <a:ea typeface="Arial"/>
                <a:cs typeface="Arial"/>
                <a:sym typeface="Arial Bold"/>
              </a:rPr>
              <a:t>2025.2</a:t>
            </a:r>
            <a:endParaRPr lang="pt-BR" sz="3200" dirty="0">
              <a:solidFill>
                <a:srgbClr val="F29100"/>
              </a:solidFill>
              <a:latin typeface="Agency FB" panose="020B0503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  <p:sp>
        <p:nvSpPr>
          <p:cNvPr id="11" name="TextBox 39">
            <a:extLst>
              <a:ext uri="{FF2B5EF4-FFF2-40B4-BE49-F238E27FC236}">
                <a16:creationId xmlns:a16="http://schemas.microsoft.com/office/drawing/2014/main" id="{F928813A-78A7-6074-6F1D-9D1EEBDD0241}"/>
              </a:ext>
            </a:extLst>
          </p:cNvPr>
          <p:cNvSpPr txBox="1"/>
          <p:nvPr/>
        </p:nvSpPr>
        <p:spPr>
          <a:xfrm>
            <a:off x="6479347" y="30907578"/>
            <a:ext cx="5222653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pt-BR" sz="2800" spc="28" noProof="0" dirty="0">
                <a:solidFill>
                  <a:srgbClr val="000000"/>
                </a:solidFill>
                <a:latin typeface="Arial" panose="020B0604020202020204" pitchFamily="34" charset="0"/>
                <a:ea typeface="TT Rounds Condensed Bold"/>
                <a:cs typeface="Arial" panose="020B0604020202020204" pitchFamily="34" charset="0"/>
                <a:sym typeface="TT Rounds Condensed Bold"/>
              </a:rPr>
              <a:t>Tela Cadastro</a:t>
            </a:r>
          </a:p>
        </p:txBody>
      </p:sp>
      <p:sp>
        <p:nvSpPr>
          <p:cNvPr id="12" name="TextBox 39">
            <a:extLst>
              <a:ext uri="{FF2B5EF4-FFF2-40B4-BE49-F238E27FC236}">
                <a16:creationId xmlns:a16="http://schemas.microsoft.com/office/drawing/2014/main" id="{7AEBD180-E44B-69EB-1F6C-D6848E51C19C}"/>
              </a:ext>
            </a:extLst>
          </p:cNvPr>
          <p:cNvSpPr txBox="1"/>
          <p:nvPr/>
        </p:nvSpPr>
        <p:spPr>
          <a:xfrm>
            <a:off x="868549" y="30944762"/>
            <a:ext cx="5010641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pt-BR" sz="2800" spc="28" noProof="0" dirty="0">
                <a:solidFill>
                  <a:srgbClr val="000000"/>
                </a:solidFill>
                <a:latin typeface="Arial" panose="020B0604020202020204" pitchFamily="34" charset="0"/>
                <a:ea typeface="TT Rounds Condensed Bold"/>
                <a:cs typeface="Arial" panose="020B0604020202020204" pitchFamily="34" charset="0"/>
                <a:sym typeface="TT Rounds Condensed Bold"/>
              </a:rPr>
              <a:t>Tela Inicio</a:t>
            </a:r>
          </a:p>
        </p:txBody>
      </p:sp>
      <p:sp>
        <p:nvSpPr>
          <p:cNvPr id="13" name="TextBox 39">
            <a:extLst>
              <a:ext uri="{FF2B5EF4-FFF2-40B4-BE49-F238E27FC236}">
                <a16:creationId xmlns:a16="http://schemas.microsoft.com/office/drawing/2014/main" id="{CC30C6EC-AD72-A652-2C2E-B6828C5C0701}"/>
              </a:ext>
            </a:extLst>
          </p:cNvPr>
          <p:cNvSpPr txBox="1"/>
          <p:nvPr/>
        </p:nvSpPr>
        <p:spPr>
          <a:xfrm>
            <a:off x="12616823" y="25091389"/>
            <a:ext cx="5460884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pt-BR" sz="2800" spc="28" noProof="0" dirty="0">
                <a:solidFill>
                  <a:srgbClr val="000000"/>
                </a:solidFill>
                <a:latin typeface="Arial" panose="020B0604020202020204" pitchFamily="34" charset="0"/>
                <a:ea typeface="TT Rounds Condensed Bold"/>
                <a:cs typeface="Arial" panose="020B0604020202020204" pitchFamily="34" charset="0"/>
                <a:sym typeface="TT Rounds Condensed Bold"/>
              </a:rPr>
              <a:t>Tela Login</a:t>
            </a:r>
          </a:p>
        </p:txBody>
      </p:sp>
      <p:sp>
        <p:nvSpPr>
          <p:cNvPr id="16" name="TextBox 39">
            <a:extLst>
              <a:ext uri="{FF2B5EF4-FFF2-40B4-BE49-F238E27FC236}">
                <a16:creationId xmlns:a16="http://schemas.microsoft.com/office/drawing/2014/main" id="{B81760FE-1D5E-F9E4-64C0-C7F1CCAEEB9C}"/>
              </a:ext>
            </a:extLst>
          </p:cNvPr>
          <p:cNvSpPr txBox="1"/>
          <p:nvPr/>
        </p:nvSpPr>
        <p:spPr>
          <a:xfrm>
            <a:off x="18535650" y="25091389"/>
            <a:ext cx="5502401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pt-BR" sz="2800" spc="28" noProof="0" dirty="0">
                <a:solidFill>
                  <a:srgbClr val="000000"/>
                </a:solidFill>
                <a:latin typeface="Arial" panose="020B0604020202020204" pitchFamily="34" charset="0"/>
                <a:ea typeface="TT Rounds Condensed Bold"/>
                <a:cs typeface="Arial" panose="020B0604020202020204" pitchFamily="34" charset="0"/>
                <a:sym typeface="TT Rounds Condensed Bold"/>
              </a:rPr>
              <a:t>Tela Movimentação</a:t>
            </a: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42C88C80-36DA-4800-8EB1-04EA5651827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21450" y="4667250"/>
            <a:ext cx="4585685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1434</TotalTime>
  <Words>559</Words>
  <Application>Microsoft Office PowerPoint</Application>
  <PresentationFormat>Personalizar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Arial Bold</vt:lpstr>
      <vt:lpstr>Agency FB</vt:lpstr>
      <vt:lpstr>Arial</vt:lpstr>
      <vt:lpstr>TT Rounds Condensed Bold</vt:lpstr>
      <vt:lpstr>Aptos Black</vt:lpstr>
      <vt:lpstr>Calibri</vt:lpstr>
      <vt:lpstr>Office Theme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00 Banner VIVA FPB 24.2 avaliação A3.pptx.pdf</dc:title>
  <dc:creator>User</dc:creator>
  <cp:lastModifiedBy>kleivson freitas</cp:lastModifiedBy>
  <cp:revision>24</cp:revision>
  <dcterms:created xsi:type="dcterms:W3CDTF">2006-08-16T00:00:00Z</dcterms:created>
  <dcterms:modified xsi:type="dcterms:W3CDTF">2025-11-30T23:32:57Z</dcterms:modified>
  <dc:identifier>DAGXs9CJ9Lk</dc:identifier>
</cp:coreProperties>
</file>